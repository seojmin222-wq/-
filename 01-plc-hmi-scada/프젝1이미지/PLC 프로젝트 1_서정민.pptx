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3716000"/>
  <p:notesSz cx="6858000" cy="9144000"/>
  <p:embeddedFontLst>
    <p:embeddedFont>
      <p:font typeface="Pretendard Bold" panose="020B0600000101010101" charset="-127"/>
      <p:bold r:id="rId17"/>
    </p:embeddedFont>
    <p:embeddedFont>
      <p:font typeface="Pretendard ExtraBold" panose="020B0600000101010101" charset="-127"/>
      <p:bold r:id="rId18"/>
    </p:embeddedFont>
    <p:embeddedFont>
      <p:font typeface="Pretendard Medium" panose="020B0600000101010101" charset="-127"/>
      <p:bold r:id="rId19"/>
    </p:embeddedFont>
    <p:embeddedFont>
      <p:font typeface="Pretendard Regular" panose="020B0600000101010101" charset="-127"/>
      <p:regular r:id="rId20"/>
    </p:embeddedFont>
    <p:embeddedFont>
      <p:font typeface="Pretendard SemiBold" panose="020B0600000101010101" charset="-127"/>
      <p:bold r:id="rId21"/>
    </p:embeddedFont>
    <p:embeddedFont>
      <p:font typeface="Calibri" panose="020F0502020204030204" pitchFamily="34" charset="0"/>
      <p:regular r:id="rId22"/>
      <p:bold r:id="rId23"/>
      <p:italic r:id="rId24"/>
      <p:boldItalic r:id="rId25"/>
    </p:embeddedFont>
    <p:embeddedFont>
      <p:font typeface="Josefin Sans SemiBold" panose="020B0600000101010101" charset="0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1474" y="34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.png"/><Relationship Id="rId7" Type="http://schemas.openxmlformats.org/officeDocument/2006/relationships/image" Target="../media/image5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>
            <a:extLst>
              <a:ext uri="{FF2B5EF4-FFF2-40B4-BE49-F238E27FC236}">
                <a16:creationId xmlns:a16="http://schemas.microsoft.com/office/drawing/2014/main" id="{C80A7304-9230-4400-A8C9-61C59C3FA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175" y="6657975"/>
            <a:ext cx="7105650" cy="9525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C0436C46-9E90-D7CD-1570-08E6E2A67B8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7429500" y="8524875"/>
            <a:ext cx="3429000" cy="6667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032CDE6-D82E-800D-53C8-F15A059CAEAC}"/>
              </a:ext>
            </a:extLst>
          </p:cNvPr>
          <p:cNvSpPr txBox="1"/>
          <p:nvPr/>
        </p:nvSpPr>
        <p:spPr>
          <a:xfrm>
            <a:off x="5524500" y="5553075"/>
            <a:ext cx="725805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000" spc="-300" dirty="0" err="1">
                <a:solidFill>
                  <a:srgbClr val="6A7E74"/>
                </a:solidFill>
                <a:latin typeface="Pretendard Regular"/>
                <a:ea typeface="Pretendard Regular"/>
                <a:cs typeface="Pretendard Regular"/>
              </a:rPr>
              <a:t>PLC,HMI를</a:t>
            </a:r>
            <a:r>
              <a:rPr lang="en-US" sz="6000" spc="-300">
                <a:solidFill>
                  <a:srgbClr val="6A7E74"/>
                </a:solidFill>
                <a:latin typeface="Pretendard Regular"/>
                <a:ea typeface="Pretendard Regular"/>
                <a:cs typeface="Pretendard Regular"/>
              </a:rPr>
              <a:t> 이용한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130BA8-C064-8577-3AD2-CDAF51C98BDA}"/>
              </a:ext>
            </a:extLst>
          </p:cNvPr>
          <p:cNvSpPr txBox="1"/>
          <p:nvPr/>
        </p:nvSpPr>
        <p:spPr>
          <a:xfrm>
            <a:off x="3667125" y="6810375"/>
            <a:ext cx="11144250" cy="160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9000" spc="-150">
                <a:solidFill>
                  <a:srgbClr val="6A7E74"/>
                </a:solidFill>
                <a:latin typeface="Pretendard Bold"/>
                <a:ea typeface="Pretendard Bold"/>
                <a:cs typeface="Pretendard Bold"/>
              </a:rPr>
              <a:t>소재 가공 및 창고 적재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E2A04C-4435-B228-D9D2-707A758734A9}"/>
              </a:ext>
            </a:extLst>
          </p:cNvPr>
          <p:cNvSpPr txBox="1"/>
          <p:nvPr/>
        </p:nvSpPr>
        <p:spPr>
          <a:xfrm>
            <a:off x="7705725" y="8639175"/>
            <a:ext cx="2876550" cy="42862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>
                <a:solidFill>
                  <a:srgbClr val="466456"/>
                </a:solidFill>
                <a:latin typeface="Pretendard Regular"/>
                <a:ea typeface="Pretendard Regular"/>
                <a:cs typeface="Pretendard Regular"/>
              </a:rPr>
              <a:t>서정민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CD199-D0EF-F8A2-512A-146FA6A55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139C98-51B6-A036-587F-B229042F0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4500"/>
            <a:ext cx="18288000" cy="102870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857DB4F-C4B7-CCA0-DD16-52A7F8F3D7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010025"/>
            <a:ext cx="95250" cy="666750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74FCADD2-EC60-27B1-EBCB-A86DEB70DA5F}"/>
              </a:ext>
            </a:extLst>
          </p:cNvPr>
          <p:cNvSpPr txBox="1"/>
          <p:nvPr/>
        </p:nvSpPr>
        <p:spPr>
          <a:xfrm>
            <a:off x="2667000" y="3829050"/>
            <a:ext cx="459105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000" spc="-150">
                <a:solidFill>
                  <a:srgbClr val="466456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73E11312-765F-FBC6-B467-3744EC9D89EA}"/>
              </a:ext>
            </a:extLst>
          </p:cNvPr>
          <p:cNvGraphicFramePr>
            <a:graphicFrameLocks noGrp="1"/>
          </p:cNvGraphicFramePr>
          <p:nvPr/>
        </p:nvGraphicFramePr>
        <p:xfrm>
          <a:off x="6677025" y="3867151"/>
          <a:ext cx="9001125" cy="6731096"/>
        </p:xfrm>
        <a:graphic>
          <a:graphicData uri="http://schemas.openxmlformats.org/drawingml/2006/table">
            <a:tbl>
              <a:tblPr/>
              <a:tblGrid>
                <a:gridCol w="1646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4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46219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1. </a:t>
                      </a:r>
                      <a:endParaRPr lang="en-US" sz="8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전체 코드 개요</a:t>
                      </a:r>
                      <a:endParaRPr lang="en-US" sz="800"/>
                    </a:p>
                  </a:txBody>
                  <a:tcPr marL="19050" marR="19050" marT="78993" marB="7899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6219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2. </a:t>
                      </a:r>
                      <a:endParaRPr lang="en-US" sz="8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각 순서별 세부 설명</a:t>
                      </a:r>
                      <a:endParaRPr lang="en-US" sz="800"/>
                    </a:p>
                  </a:txBody>
                  <a:tcPr marL="19050" marR="19050" marT="78993" marB="7899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6219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3. </a:t>
                      </a:r>
                      <a:endParaRPr lang="en-US" sz="8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BSFL과 자기유지회로 비교</a:t>
                      </a:r>
                      <a:endParaRPr lang="en-US" sz="800"/>
                    </a:p>
                  </a:txBody>
                  <a:tcPr marL="19050" marR="19050" marT="78993" marB="7899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46219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4. </a:t>
                      </a:r>
                      <a:endParaRPr lang="en-US" sz="8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트러블 슈팅 </a:t>
                      </a:r>
                      <a:endParaRPr lang="en-US" sz="800"/>
                    </a:p>
                  </a:txBody>
                  <a:tcPr marL="19050" marR="19050" marT="78993" marB="7899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46219"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6A7E74"/>
                          </a:solidFill>
                          <a:latin typeface="Pretendard ExtraBold"/>
                          <a:ea typeface="Pretendard ExtraBold"/>
                          <a:cs typeface="Pretendard ExtraBold"/>
                        </a:rPr>
                        <a:t>Chapter 5. </a:t>
                      </a:r>
                      <a:endParaRPr lang="en-US" sz="800"/>
                    </a:p>
                  </a:txBody>
                  <a:tcPr marL="19050" marR="19050" marT="52767" marB="52767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91714"/>
                        </a:lnSpc>
                        <a:defRPr/>
                      </a:pPr>
                      <a:r>
                        <a:rPr lang="en-US" sz="3200" b="0" i="0" u="none" strike="noStrike">
                          <a:solidFill>
                            <a:srgbClr val="222222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QnA</a:t>
                      </a:r>
                      <a:endParaRPr lang="en-US" sz="800"/>
                    </a:p>
                  </a:txBody>
                  <a:tcPr marL="19050" marR="19050" marT="78993" marB="78993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CC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26A26DBE-ECCA-D358-C0EC-98A921F98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82880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317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1714500"/>
            <a:ext cx="18288000" cy="209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819525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2847975"/>
            <a:ext cx="4514850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전체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코드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개요</a:t>
            </a:r>
            <a:endParaRPr lang="en-US" sz="4000" spc="-15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75" y="4076700"/>
            <a:ext cx="15592425" cy="190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4714875" y="5105400"/>
            <a:ext cx="952500" cy="9525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6238875"/>
            <a:ext cx="15621000" cy="553402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409950" y="9096375"/>
            <a:ext cx="3533775" cy="1905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409825" y="4829175"/>
            <a:ext cx="180975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95">
                <a:solidFill>
                  <a:srgbClr val="444444"/>
                </a:solidFill>
                <a:latin typeface="Pretendard SemiBold"/>
                <a:ea typeface="Pretendard SemiBold"/>
                <a:cs typeface="Pretendard SemiBold"/>
              </a:rPr>
              <a:t>초기 조건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29275" y="4343400"/>
            <a:ext cx="10887075" cy="190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sz="2422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1. 전원이 공급 되었을 때 각 실린더가 초기 위치가 아니면 즉시 초기 상태로 복귀 
2. 모든 실린더 복귀 및 이미 초기 상태라면 0.5초 후 Servo가 자동으로 기계 원점 복귀 
3. Servo 원점 확립 및 모든 실린더 초기 상태가 되면 동작 조건 성립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638425" y="8534400"/>
            <a:ext cx="1685925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시퀀스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9275" y="6886575"/>
            <a:ext cx="10848975" cy="43338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동작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조건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성립시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Servo가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적절한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위치로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미리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기동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및 소</a:t>
            </a:r>
            <a:r>
              <a:rPr lang="ko-KR" alt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재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공급시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2초 후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공급실린더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전후진</a:t>
            </a:r>
            <a:endParaRPr lang="en-US" sz="2402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가공실린더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하강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n초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대기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상승을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n회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분배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실린더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전후진</a:t>
            </a:r>
            <a:endParaRPr lang="en-US" sz="2402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컨베이어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벨트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작동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스토퍼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실린더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하강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소재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판별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진행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스토퍼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광센서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감지시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서보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흡착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위치로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기동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금속은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좌측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비금속은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우측으로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순서대로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3,2,1층으로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적재</a:t>
            </a:r>
            <a:endParaRPr lang="en-US" sz="2402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적재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소재가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있을시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적절한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위치로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재기동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및 1번부터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소재가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없을시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초기화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 </a:t>
            </a:r>
          </a:p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재질별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4번째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소재부터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금속은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배출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비금속은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저장박스로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이동</a:t>
            </a:r>
            <a:endParaRPr lang="en-US" sz="2402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marL="257175" lvl="1" indent="-257175">
              <a:lnSpc>
                <a:spcPct val="132800"/>
              </a:lnSpc>
              <a:buAutoNum type="arabicPeriod"/>
            </a:pP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비상버튼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작동시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모든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행동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멈춤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비상해제버튼을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누르면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행동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이어서</a:t>
            </a:r>
            <a:r>
              <a:rPr lang="en-US" sz="2402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2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이행</a:t>
            </a:r>
            <a:endParaRPr lang="en-US" sz="2402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1714500"/>
            <a:ext cx="18288000" cy="209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18288000" cy="10287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3819525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2847975"/>
            <a:ext cx="4514850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주요 기능</a:t>
            </a:r>
            <a:endParaRPr lang="en-US" sz="4000" spc="-150" dirty="0">
              <a:solidFill>
                <a:srgbClr val="6A7E7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819650"/>
            <a:ext cx="15621000" cy="123825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6375" y="4962525"/>
            <a:ext cx="9525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" y="6343650"/>
            <a:ext cx="15621000" cy="123825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6375" y="6477000"/>
            <a:ext cx="9525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" y="7848600"/>
            <a:ext cx="15621000" cy="12382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6375" y="7991475"/>
            <a:ext cx="952500" cy="9525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809750" y="5181600"/>
            <a:ext cx="295275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71650" y="6705600"/>
            <a:ext cx="371475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81175" y="8220075"/>
            <a:ext cx="352425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91275" y="5153025"/>
            <a:ext cx="5505450" cy="5619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158">
                <a:solidFill>
                  <a:srgbClr val="444444"/>
                </a:solidFill>
                <a:latin typeface="Pretendard Regular"/>
                <a:ea typeface="Pretendard Regular"/>
                <a:cs typeface="Pretendard Regular"/>
              </a:rPr>
              <a:t>HMI를 통해 가공 횟수와 시간 설정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10475" y="6705600"/>
            <a:ext cx="3200400" cy="5619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8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적재 위치 변환 버튼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95925" y="8191500"/>
            <a:ext cx="7410450" cy="5619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158">
                <a:solidFill>
                  <a:srgbClr val="444444"/>
                </a:solidFill>
                <a:latin typeface="Pretendard Regular"/>
                <a:ea typeface="Pretendard Regular"/>
                <a:cs typeface="Pretendard Regular"/>
              </a:rPr>
              <a:t>각 소재별 적재 불가능시 배출,저장 창고로 이동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23327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128352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1156802"/>
            <a:ext cx="1033462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설명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코드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영상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: Servo 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2543174"/>
            <a:ext cx="8144512" cy="441959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877" y="6962769"/>
            <a:ext cx="8063398" cy="423473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5425" y="2543173"/>
            <a:ext cx="8253660" cy="592454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4279" y="8416884"/>
            <a:ext cx="8402058" cy="15653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54429" y="0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79" y="2105025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25979" y="1133475"/>
            <a:ext cx="9848850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 설명 코드 및 영상 : 초기 조건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322" y="2741653"/>
            <a:ext cx="8191355" cy="589597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322" y="8637628"/>
            <a:ext cx="8191355" cy="174403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8322" y="10381667"/>
            <a:ext cx="8410575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18661" y="88252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211" y="2193277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90211" y="1221727"/>
            <a:ext cx="985837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 설명 코드 및 영상 : 시퀀스 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766" y="2362200"/>
            <a:ext cx="8380834" cy="229764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766" y="4590674"/>
            <a:ext cx="8380834" cy="5731604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2362200"/>
            <a:ext cx="7923634" cy="4628962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0" y="6983210"/>
            <a:ext cx="7970743" cy="30561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276225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6" y="2059246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9326" y="1087696"/>
            <a:ext cx="985837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 설명 코드 및 영상 : 시퀀스 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684" y="2634431"/>
            <a:ext cx="8833747" cy="157745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4154746"/>
            <a:ext cx="8858629" cy="5124447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571" y="9793539"/>
            <a:ext cx="9178760" cy="3276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31102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136127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1164577"/>
            <a:ext cx="985837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 설명 코드 및 영상 : 시퀀스 3-1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505325"/>
            <a:ext cx="8172450" cy="591502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900" y="4505325"/>
            <a:ext cx="7467600" cy="1828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7900" y="6858000"/>
            <a:ext cx="746760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37517" y="-21771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067" y="2083254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009067" y="1111704"/>
            <a:ext cx="985837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 설명 코드 및 영상 : 시퀀스 3-2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914" y="2111829"/>
            <a:ext cx="10324424" cy="525652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7798253"/>
            <a:ext cx="10324425" cy="55081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152400" y="-228600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50" y="1876425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123950" y="904875"/>
            <a:ext cx="985837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설명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코드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및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영상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: </a:t>
            </a:r>
            <a:r>
              <a:rPr lang="en-US" sz="4000" spc="-150" dirty="0" err="1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시퀀스</a:t>
            </a:r>
            <a:r>
              <a:rPr lang="en-US" sz="4000" spc="-150" dirty="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 4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4056484"/>
            <a:ext cx="7924800" cy="5219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9315450"/>
            <a:ext cx="7924800" cy="6286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2625" y="4095750"/>
            <a:ext cx="7562850" cy="55340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0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105025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1133475"/>
            <a:ext cx="9858375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기본 설명 코드 및 영상 : HMI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7037" y="2519071"/>
            <a:ext cx="4600575" cy="322897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2" y="7543800"/>
            <a:ext cx="7029450" cy="528835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" y="7543800"/>
            <a:ext cx="7029450" cy="52883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14287" y="213127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2318152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85837" y="1346602"/>
            <a:ext cx="4514850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BSFL, 자기유지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7062" y="2594377"/>
            <a:ext cx="3609975" cy="85725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4787" y="2603902"/>
            <a:ext cx="3609975" cy="85725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3538537" y="2765827"/>
            <a:ext cx="2857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BSFL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15787" y="2775352"/>
            <a:ext cx="28575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00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자기유지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268" y="3552875"/>
            <a:ext cx="8086532" cy="4407994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3419" y="3526855"/>
            <a:ext cx="7834313" cy="4479783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7503" y="9390988"/>
            <a:ext cx="8645909" cy="15933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0"/>
          </a:blip>
          <a:stretch>
            <a:fillRect/>
          </a:stretch>
        </p:blipFill>
        <p:spPr>
          <a:xfrm>
            <a:off x="0" y="304800"/>
            <a:ext cx="18288000" cy="209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409825"/>
            <a:ext cx="16344900" cy="9525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971550" y="1438275"/>
            <a:ext cx="4514850" cy="714375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000" spc="-150">
                <a:solidFill>
                  <a:srgbClr val="6A7E74"/>
                </a:solidFill>
                <a:latin typeface="Pretendard SemiBold"/>
                <a:ea typeface="Pretendard SemiBold"/>
                <a:cs typeface="Pretendard SemiBold"/>
              </a:rPr>
              <a:t>트러블슈팅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307" y="3309452"/>
            <a:ext cx="8212537" cy="2924161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6233612"/>
            <a:ext cx="8274490" cy="3990979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609" y="10224591"/>
            <a:ext cx="8952665" cy="225743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-2686050" y="8772525"/>
            <a:ext cx="23822025" cy="455295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4500"/>
            <a:ext cx="18288000" cy="10287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552825" y="5543550"/>
            <a:ext cx="11201400" cy="2400300"/>
          </a:xfrm>
          <a:prstGeom prst="rect">
            <a:avLst/>
          </a:prstGeom>
        </p:spPr>
        <p:txBody>
          <a:bodyPr lIns="0" tIns="44450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-US" sz="7000" spc="-375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발표를 들어주셔서</a:t>
            </a:r>
          </a:p>
          <a:p>
            <a:pPr lvl="0" algn="ctr">
              <a:lnSpc>
                <a:spcPct val="107899"/>
              </a:lnSpc>
            </a:pPr>
            <a:r>
              <a:rPr lang="en-US" sz="7000" spc="-375">
                <a:solidFill>
                  <a:srgbClr val="6A7E74"/>
                </a:solidFill>
                <a:latin typeface="Pretendard Medium"/>
                <a:ea typeface="Pretendard Medium"/>
                <a:cs typeface="Pretendard Medium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302</Words>
  <Application>Microsoft Office PowerPoint</Application>
  <PresentationFormat>사용자 지정</PresentationFormat>
  <Paragraphs>46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Josefin Sans SemiBold</vt:lpstr>
      <vt:lpstr>Pretendard Regular</vt:lpstr>
      <vt:lpstr>Pretendard SemiBold</vt:lpstr>
      <vt:lpstr>Pretendard ExtraBold</vt:lpstr>
      <vt:lpstr>Pretendard Bold</vt:lpstr>
      <vt:lpstr>Calibri</vt:lpstr>
      <vt:lpstr>Arial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7</cp:revision>
  <dcterms:created xsi:type="dcterms:W3CDTF">2006-08-16T00:00:00Z</dcterms:created>
  <dcterms:modified xsi:type="dcterms:W3CDTF">2026-04-13T00:37:59Z</dcterms:modified>
</cp:coreProperties>
</file>